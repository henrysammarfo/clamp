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201168"/>
            <a:ext cx="4172407" cy="6455664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TEAM 14  ·  GWDC 2026  ·  CHALLENGE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2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CLAMP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cs typeface="Syne"/>
                <a:ea typeface="Syne"/>
                <a:solidFill>
                  <a:srgbClr val="E8EBF0"/>
                </a:solidFill>
                <a:latin typeface="Syne"/>
              </a:rPr>
              <a:t>Control before 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94760"/>
            <a:ext cx="3108960" cy="82296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You set a spending mandate. The agent asked outside it. Nothing paid. The refuse is on the audit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Henry Sam Marfo  ·  Song Hyewon  ·  FuriosaAI × Bricksum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91440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01  LIVE ON</a:t>
            </a:r>
          </a:p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Base Sepolia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200400" cy="13716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02  PARSE</a:t>
            </a:r>
          </a:p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Kiln deepseek v4.1 flash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246120"/>
            <a:ext cx="3200400" cy="13716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8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03  DECIDE</a:t>
            </a:r>
          </a:p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Code gate. Zero inference.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480560"/>
            <a:ext cx="3200400" cy="13716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6177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04  PROVE</a:t>
            </a:r>
          </a:p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Audit receipts on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989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Open on the block.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502920" cy="457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PROBLEM   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AI agents can spend.</a:t>
            </a:r>
          </a:p>
          <a:p>
            <a:pPr>
              <a:spcAft>
                <a:spcPts val="0"/>
              </a:spcAft>
            </a:pPr>
            <a:r>
              <a:rPr sz="34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Soft limits are not enough.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2194560" cy="7315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1234440"/>
            <a:ext cx="4846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234440"/>
            <a:ext cx="109728" cy="14173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49047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01  They talk around prompts</a:t>
            </a:r>
          </a:p>
          <a:p>
            <a:pPr>
              <a:spcAft>
                <a:spcPts val="0"/>
              </a:spcAft>
            </a:pPr>
            <a:r>
              <a:rPr sz="13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If permission lives only in chat, a clever prompt can walk past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34640"/>
            <a:ext cx="4846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34640"/>
            <a:ext cx="109728" cy="14173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09067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02  Money needs a hard box</a:t>
            </a:r>
          </a:p>
          <a:p>
            <a:pPr>
              <a:spcAft>
                <a:spcPts val="0"/>
              </a:spcAft>
            </a:pPr>
            <a:r>
              <a:rPr sz="13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Purpose, budget, merchants, and an ending. Temporary. Revocable.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434840"/>
            <a:ext cx="4846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434840"/>
            <a:ext cx="109728" cy="14173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69087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03  Someone else must read it</a:t>
            </a:r>
          </a:p>
          <a:p>
            <a:pPr>
              <a:spcAft>
                <a:spcPts val="0"/>
              </a:spcAft>
            </a:pPr>
            <a:r>
              <a:rPr sz="13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A second person should reconstruct the story from a trail, not a vibe.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Not a chatbot. Not a wallet clone.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502920" cy="457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PRODUCT   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A delegation control layer for agents that spend.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2194560" cy="7315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The agent may act alone only inside a temporary mandate you create. Outside that box, money does not move.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34440"/>
            <a:ext cx="4206240" cy="457200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4206240" cy="109728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INSIDE EVERY MANDATE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2304288"/>
            <a:ext cx="164592" cy="16459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194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E8EBF0"/>
                </a:solidFill>
                <a:latin typeface="Syne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2944368"/>
            <a:ext cx="164592" cy="16459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834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E8EBF0"/>
                </a:solidFill>
                <a:latin typeface="Syne"/>
              </a:rPr>
              <a:t>budget including fees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3584448"/>
            <a:ext cx="164592" cy="16459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474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E8EBF0"/>
                </a:solidFill>
                <a:latin typeface="Syne"/>
              </a:rPr>
              <a:t>allowed merchants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4224528"/>
            <a:ext cx="164592" cy="16459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E8EBF0"/>
                </a:solidFill>
                <a:latin typeface="Syne"/>
              </a:rPr>
              <a:t>expiry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4864608"/>
            <a:ext cx="164592" cy="16459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cs typeface="Syne"/>
                <a:ea typeface="Syne"/>
                <a:solidFill>
                  <a:srgbClr val="E8EBF0"/>
                </a:solidFill>
                <a:latin typeface="Syne"/>
              </a:rPr>
              <a:t>revocable anytime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Hard box. Clear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502920" cy="457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DECISION MODEL   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THREE OUTCOMES. NO FOG.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The model parses. Code decides.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2011680" cy="7315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3520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128016" cy="2926080"/>
          </a:xfrm>
          <a:prstGeom prst="rect">
            <a:avLst/>
          </a:prstGeom>
          <a:solidFill>
            <a:srgbClr val="22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 b="1">
                <a:cs typeface="IBM Plex Mono"/>
                <a:ea typeface="IBM Plex Mono"/>
                <a:solidFill>
                  <a:srgbClr val="228C5A"/>
                </a:solidFill>
                <a:latin typeface="IBM Plex Mono"/>
              </a:rPr>
              <a:t>ALLOW</a:t>
            </a:r>
          </a:p>
          <a:p>
            <a:pPr>
              <a:spcAft>
                <a:spcPts val="1200"/>
              </a:spcAft>
            </a:pPr>
            <a:r>
              <a:rPr sz="24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Clearly inside</a:t>
            </a:r>
          </a:p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Proceed. Record the settlement receipt.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880360"/>
            <a:ext cx="3520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128016" cy="292608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2004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 b="1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BLOCK</a:t>
            </a:r>
          </a:p>
          <a:p>
            <a:pPr>
              <a:spcAft>
                <a:spcPts val="1200"/>
              </a:spcAft>
            </a:pPr>
            <a:r>
              <a:rPr sz="24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Clearly outside</a:t>
            </a:r>
          </a:p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Stop. Pay nothing. Write why on the trail.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880360"/>
            <a:ext cx="3520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880360"/>
            <a:ext cx="128016" cy="2926080"/>
          </a:xfrm>
          <a:prstGeom prst="rect">
            <a:avLst/>
          </a:prstGeom>
          <a:solidFill>
            <a:srgbClr val="C4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2004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 b="1">
                <a:cs typeface="IBM Plex Mono"/>
                <a:ea typeface="IBM Plex Mono"/>
                <a:solidFill>
                  <a:srgbClr val="C49214"/>
                </a:solidFill>
                <a:latin typeface="IBM Plex Mono"/>
              </a:rPr>
              <a:t>NEEDS HUMAN</a:t>
            </a:r>
          </a:p>
          <a:p>
            <a:pPr>
              <a:spcAft>
                <a:spcPts val="1200"/>
              </a:spcAft>
            </a:pPr>
            <a:r>
              <a:rPr sz="24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Borderline</a:t>
            </a:r>
          </a:p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Hold. No pay until a person says yes or 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Permission is not a vibe from the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502920" cy="457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ARCHITECTURE   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234440" cy="64008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Parse once. Gate in code. Leave a receipt.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331720"/>
            <a:ext cx="45720" cy="365760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350008"/>
            <a:ext cx="256032" cy="256032"/>
          </a:xfrm>
          <a:prstGeom prst="round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240280"/>
            <a:ext cx="9144000" cy="658368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350008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Human UI</a:t>
            </a:r>
            <a:r>
              <a:rPr sz="13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    Create the mandate. Review borderline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099816"/>
            <a:ext cx="256032" cy="256032"/>
          </a:xfrm>
          <a:prstGeom prst="round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9900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990088"/>
            <a:ext cx="9144000" cy="658368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3099816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FastAPI policy</a:t>
            </a:r>
            <a:r>
              <a:rPr sz="13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    Mandate, budget, and gate as source of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3849624"/>
            <a:ext cx="256032" cy="256032"/>
          </a:xfrm>
          <a:prstGeom prst="round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73989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739896"/>
            <a:ext cx="9144000" cy="658368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3849624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Kiln parse + explain</a:t>
            </a:r>
            <a:r>
              <a:rPr sz="13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    deepseek v4.1 flash turns a sentence into fields.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599432"/>
            <a:ext cx="256032" cy="256032"/>
          </a:xfrm>
          <a:prstGeom prst="round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89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4489704"/>
            <a:ext cx="9144000" cy="658368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459943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Deterministic gate</a:t>
            </a:r>
            <a:r>
              <a:rPr sz="13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    Zero inference. Allow, Block, or Needs human.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5349240"/>
            <a:ext cx="256032" cy="256032"/>
          </a:xfrm>
          <a:prstGeom prst="round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2395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5239512"/>
            <a:ext cx="9144000" cy="658368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53492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ClampAudit · Base Sepolia</a:t>
            </a:r>
            <a:r>
              <a:rPr sz="13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    Mandate commits and decision receipts on chain.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Kiln energy by flow  ·  on chain stop or settle hash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502920" cy="457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LIVE DEMO   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OPEN ON THE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Same mandate. Three real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1088136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164592" cy="105156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7919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BestBuy $20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Merchant not allowed · tx on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2715768"/>
            <a:ext cx="1828800" cy="457200"/>
          </a:xfrm>
          <a:prstGeom prst="round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70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1088136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164592" cy="1051560"/>
          </a:xfrm>
          <a:prstGeom prst="rect">
            <a:avLst/>
          </a:prstGeom>
          <a:solidFill>
            <a:srgbClr val="22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679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Amazon $65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9319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Inside mandate · settlement receipt on 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904488"/>
            <a:ext cx="1828800" cy="457200"/>
          </a:xfrm>
          <a:prstGeom prst="roundRect">
            <a:avLst/>
          </a:prstGeom>
          <a:solidFill>
            <a:srgbClr val="22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3959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ALLOW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1088136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164592" cy="1051560"/>
          </a:xfrm>
          <a:prstGeom prst="rect">
            <a:avLst/>
          </a:prstGeom>
          <a:solidFill>
            <a:srgbClr val="C4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05663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Apple $120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1206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Needs human · approved · final Allow on 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5093208"/>
            <a:ext cx="1828800" cy="457200"/>
          </a:xfrm>
          <a:prstGeom prst="roundRect">
            <a:avLst/>
          </a:prstGeom>
          <a:solidFill>
            <a:srgbClr val="C4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5148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NEEDS HUMAN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Hand the trail to another person. Nothing paid on the refuse.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502920" cy="457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EFFICIENCY   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30 ADVERSARIAL CASES  ·  3 REPS  ·  SAME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44% fewer tokens. Same decision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2606040" cy="91440"/>
          </a:xfrm>
          <a:prstGeom prst="rect">
            <a:avLst/>
          </a:prstGeom>
          <a:solidFill>
            <a:srgbClr val="6B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100%</a:t>
            </a:r>
          </a:p>
          <a:p>
            <a:pPr>
              <a:spcAft>
                <a:spcPts val="0"/>
              </a:spcAft>
            </a:pPr>
            <a:r>
              <a:rPr sz="11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CLAMP decision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6888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468880"/>
            <a:ext cx="2606040" cy="9144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69748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100%</a:t>
            </a:r>
          </a:p>
          <a:p>
            <a:pPr>
              <a:spcAft>
                <a:spcPts val="0"/>
              </a:spcAft>
            </a:pPr>
            <a:r>
              <a:rPr sz="11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CLAMP reason code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2606040" cy="91440"/>
          </a:xfrm>
          <a:prstGeom prst="rect">
            <a:avLst/>
          </a:prstGeom>
          <a:solidFill>
            <a:srgbClr val="6B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97.8%</a:t>
            </a:r>
          </a:p>
          <a:p>
            <a:pPr>
              <a:spcAft>
                <a:spcPts val="0"/>
              </a:spcAft>
            </a:pPr>
            <a:r>
              <a:rPr sz="11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ALL AI reason code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46888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2468880"/>
            <a:ext cx="2606040" cy="9144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69748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44.4%</a:t>
            </a:r>
          </a:p>
          <a:p>
            <a:pPr>
              <a:spcAft>
                <a:spcPts val="0"/>
              </a:spcAft>
            </a:pPr>
            <a:r>
              <a:rPr sz="11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fewer total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52120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CLAMP TOKENS</a:t>
            </a:r>
          </a:p>
          <a:p>
            <a:pPr>
              <a:spcAft>
                <a:spcPts val="0"/>
              </a:spcAft>
            </a:pPr>
            <a:r>
              <a:rPr sz="16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38,420 total  ·  deepseek v4.1 flash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297680"/>
            <a:ext cx="52120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5262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ALL AI TOKENS</a:t>
            </a:r>
          </a:p>
          <a:p>
            <a:pPr>
              <a:spcAft>
                <a:spcPts val="0"/>
              </a:spcAft>
            </a:pPr>
            <a:r>
              <a:rPr sz="16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69,053 total  ·  same model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Do not generalize beyond this dataset and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502920" cy="457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ON CHAIN   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Real receipts. Verified on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088136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CLAMPAUDIT V2  ·  BASE SEPOLIA</a:t>
            </a:r>
          </a:p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0x4648520fe2b192791c9ae13e46e0cba9544c42d6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352044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3872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ALLOW</a:t>
            </a:r>
          </a:p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0xc24d…de0b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337560"/>
            <a:ext cx="352044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53872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HUMAN ALLOW</a:t>
            </a:r>
          </a:p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0xed1a…869b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337560"/>
            <a:ext cx="352044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53872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MERCHANT BLOCK</a:t>
            </a:r>
          </a:p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0xea0b…41ef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17720"/>
            <a:ext cx="352044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1888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HUMAN REJECT</a:t>
            </a:r>
          </a:p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0x810c…9258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617720"/>
            <a:ext cx="352044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81888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REVOKE</a:t>
            </a:r>
          </a:p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0x9f83…8d93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4617720"/>
            <a:ext cx="3520440" cy="1051560"/>
          </a:xfrm>
          <a:prstGeom prst="round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81888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PURPOSE BLOCK</a:t>
            </a:r>
          </a:p>
          <a:p>
            <a:pPr>
              <a:spcAft>
                <a:spcPts val="0"/>
              </a:spcAft>
            </a:pPr>
            <a:r>
              <a:rPr sz="16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0x219a…99b3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Full links in docs/SUBMISSION_EVIDENCE.md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502920" cy="4572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65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HONESTY   09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234440" cy="64008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Hard controls. Inspectable trail. No fairy tales.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35204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3520440" cy="109728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Live where it matters</a:t>
            </a:r>
          </a:p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Kiln for parse and explain. Base Sepolia for mandate and decision receipts.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834640"/>
            <a:ext cx="35204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834640"/>
            <a:ext cx="3520440" cy="109728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Testnet labeled</a:t>
            </a:r>
          </a:p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No fake pays. No pretend chain. Residual risk stays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834640"/>
            <a:ext cx="35204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834640"/>
            <a:ext cx="3520440" cy="109728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20040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cs typeface="Syne"/>
                <a:ea typeface="Syne"/>
                <a:solidFill>
                  <a:srgbClr val="111318"/>
                </a:solidFill>
                <a:latin typeface="Syne"/>
              </a:rPr>
              <a:t>Not unhackable</a:t>
            </a:r>
          </a:p>
          <a:p>
            <a:pPr>
              <a:spcAft>
                <a:spcPts val="0"/>
              </a:spcAft>
            </a:pPr>
            <a:r>
              <a:rPr sz="1400" b="0">
                <a:cs typeface="Manrope"/>
                <a:ea typeface="Manrope"/>
                <a:solidFill>
                  <a:srgbClr val="6B7382"/>
                </a:solidFill>
                <a:latin typeface="Manrope"/>
              </a:rPr>
              <a:t>Control and records for Challenge B. We do not sell invincibility.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cs typeface="IBM Plex Mono"/>
                <a:ea typeface="IBM Plex Mono"/>
                <a:solidFill>
                  <a:srgbClr val="6B7382"/>
                </a:solidFill>
                <a:latin typeface="IBM Plex Mono"/>
              </a:rPr>
              <a:t>Judges can reconstruct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cs typeface="IBM Plex Mono"/>
                <a:ea typeface="IBM Plex Mono"/>
                <a:solidFill>
                  <a:srgbClr val="9AA3B2"/>
                </a:solidFill>
                <a:latin typeface="IBM Plex Mono"/>
              </a:rPr>
              <a:t>TEAM 14  · 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cs typeface="Syne"/>
                <a:ea typeface="Syne"/>
                <a:solidFill>
                  <a:srgbClr val="FFFFFF"/>
                </a:solidFill>
                <a:latin typeface="Syne"/>
              </a:rPr>
              <a:t>Ship the control layer agents use before money moves.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463040" cy="73152"/>
          </a:xfrm>
          <a:prstGeom prst="rect">
            <a:avLst/>
          </a:prstGeom>
          <a:solidFill>
            <a:srgbClr val="E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cs typeface="Manrope"/>
                <a:ea typeface="Manrope"/>
                <a:solidFill>
                  <a:srgbClr val="9AA3B2"/>
                </a:solidFill>
                <a:latin typeface="Manrope"/>
              </a:rPr>
              <a:t>You set a spending mandate. The agent asked outside it. Nothing paid. The refuse is on the audit trail.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cs typeface="Syne"/>
                <a:ea typeface="Syne"/>
                <a:solidFill>
                  <a:srgbClr val="E62B1E"/>
                </a:solidFill>
                <a:latin typeface="Syne"/>
              </a:rPr>
              <a:t>CLAMP  ·  Control before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REPO</a:t>
            </a:r>
          </a:p>
          <a:p>
            <a:pPr>
              <a:spcAft>
                <a:spcPts val="1800"/>
              </a:spcAft>
            </a:pPr>
            <a:r>
              <a:rPr sz="13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github.com/henrysammarfo/clamp</a:t>
            </a:r>
          </a:p>
          <a:p>
            <a:pPr>
              <a:spcAft>
                <a:spcPts val="800"/>
              </a:spcAft>
            </a:pPr>
            <a:r>
              <a:rPr sz="10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TEAM</a:t>
            </a:r>
          </a:p>
          <a:p>
            <a:pPr>
              <a:spcAft>
                <a:spcPts val="600"/>
              </a:spcAft>
            </a:pPr>
            <a:r>
              <a:rPr sz="1600" b="1">
                <a:cs typeface="Syne"/>
                <a:ea typeface="Syne"/>
                <a:solidFill>
                  <a:srgbClr val="E8EBF0"/>
                </a:solidFill>
                <a:latin typeface="Syne"/>
              </a:rPr>
              <a:t>Henry Sam Marfo</a:t>
            </a:r>
          </a:p>
          <a:p>
            <a:pPr>
              <a:spcAft>
                <a:spcPts val="1800"/>
              </a:spcAft>
            </a:pPr>
            <a:r>
              <a:rPr sz="1600" b="1">
                <a:cs typeface="Syne"/>
                <a:ea typeface="Syne"/>
                <a:solidFill>
                  <a:srgbClr val="E8EBF0"/>
                </a:solidFill>
                <a:latin typeface="Syne"/>
              </a:rPr>
              <a:t>Song Hyewon</a:t>
            </a:r>
          </a:p>
          <a:p>
            <a:pPr>
              <a:spcAft>
                <a:spcPts val="800"/>
              </a:spcAft>
            </a:pPr>
            <a:r>
              <a:rPr sz="1000" b="0">
                <a:cs typeface="IBM Plex Mono"/>
                <a:ea typeface="IBM Plex Mono"/>
                <a:solidFill>
                  <a:srgbClr val="E62B1E"/>
                </a:solidFill>
                <a:latin typeface="IBM Plex Mono"/>
              </a:rPr>
              <a:t>CONTRACT</a:t>
            </a:r>
          </a:p>
          <a:p>
            <a:pPr>
              <a:spcAft>
                <a:spcPts val="0"/>
              </a:spcAft>
            </a:pPr>
            <a:r>
              <a:rPr sz="1400" b="1">
                <a:cs typeface="IBM Plex Mono"/>
                <a:ea typeface="IBM Plex Mono"/>
                <a:solidFill>
                  <a:srgbClr val="FFFFFF"/>
                </a:solidFill>
                <a:latin typeface="IBM Plex Mono"/>
              </a:rPr>
              <a:t>0x4648…42d6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